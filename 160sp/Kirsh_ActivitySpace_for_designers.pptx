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REIMAGINING SPACE  ·  KIRSH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F2F2F"/>
                </a:solidFill>
                <a:latin typeface="Georgia"/>
              </a:rPr>
              <a:t>Space is not geometry — it is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D5D55"/>
                </a:solidFill>
                <a:latin typeface="Calibri"/>
              </a:rPr>
              <a:t>Occupants do not perceive the floor plan architects draw. They perceive a task-shaped bubble of what is relevant right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539496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BEAE"/>
                </a:solidFill>
                <a:latin typeface="Calibri"/>
              </a:rPr>
              <a:t>WHAT THE ARCHITECT DRAWS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F2F2F"/>
                </a:solidFill>
                <a:latin typeface="Georgia"/>
              </a:rPr>
              <a:t>Geometric layout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4297680"/>
            <a:ext cx="4572000" cy="1463040"/>
          </a:xfrm>
          <a:prstGeom prst="roundRect">
            <a:avLst>
              <a:gd name="adj" fmla="val 5000"/>
            </a:avLst>
          </a:prstGeom>
          <a:solidFill>
            <a:srgbClr val="F7F3EB"/>
          </a:solidFill>
          <a:ln w="12700">
            <a:solidFill>
              <a:srgbClr val="2F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63040" y="4480560"/>
            <a:ext cx="11887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F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4640" y="4480560"/>
            <a:ext cx="1280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F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4480560"/>
            <a:ext cx="1280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F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D5D55"/>
                </a:solidFill>
                <a:latin typeface="Calibri"/>
              </a:rPr>
              <a:t>rooms  ·  walls  ·  doors  ·  square-footage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539496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154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WHAT THE OCCUPANT EXPERIENCES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566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F2F2F"/>
                </a:solidFill>
                <a:latin typeface="Georgia"/>
              </a:rPr>
              <a:t>Overlapping activity bubbles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4297680"/>
            <a:ext cx="1828800" cy="10058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663440"/>
            <a:ext cx="1828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cook</a:t>
            </a:r>
          </a:p>
        </p:txBody>
      </p:sp>
      <p:sp>
        <p:nvSpPr>
          <p:cNvPr id="19" name="Oval 18"/>
          <p:cNvSpPr/>
          <p:nvPr/>
        </p:nvSpPr>
        <p:spPr>
          <a:xfrm>
            <a:off x="7955279" y="4389120"/>
            <a:ext cx="1920240" cy="1005840"/>
          </a:xfrm>
          <a:prstGeom prst="ellipse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4754880"/>
            <a:ext cx="19202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200" b="1">
                <a:solidFill>
                  <a:srgbClr val="2F2F2F"/>
                </a:solidFill>
                <a:latin typeface="Calibri"/>
              </a:rPr>
              <a:t>diner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0" y="4206240"/>
            <a:ext cx="1737360" cy="1005840"/>
          </a:xfrm>
          <a:prstGeom prst="ellipse">
            <a:avLst/>
          </a:prstGeom>
          <a:solidFill>
            <a:srgbClr val="8A3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4571999"/>
            <a:ext cx="17373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server</a:t>
            </a:r>
          </a:p>
        </p:txBody>
      </p:sp>
      <p:sp>
        <p:nvSpPr>
          <p:cNvPr id="23" name="Oval 22"/>
          <p:cNvSpPr/>
          <p:nvPr/>
        </p:nvSpPr>
        <p:spPr>
          <a:xfrm>
            <a:off x="7223760" y="5029200"/>
            <a:ext cx="1828800" cy="914400"/>
          </a:xfrm>
          <a:prstGeom prst="ellipse">
            <a:avLst/>
          </a:prstGeom>
          <a:solidFill>
            <a:srgbClr val="E7E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5349240"/>
            <a:ext cx="1828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200" b="1">
                <a:solidFill>
                  <a:srgbClr val="2F2F2F"/>
                </a:solidFill>
                <a:latin typeface="Calibri"/>
              </a:rPr>
              <a:t>commuter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0" y="5120640"/>
            <a:ext cx="2011680" cy="914400"/>
          </a:xfrm>
          <a:prstGeom prst="ellipse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5440679"/>
            <a:ext cx="20116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200" b="1">
                <a:solidFill>
                  <a:srgbClr val="2F2F2F"/>
                </a:solidFill>
                <a:latin typeface="Calibri"/>
              </a:rPr>
              <a:t>child at play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6172200"/>
            <a:ext cx="10972800" cy="502920"/>
          </a:xfrm>
          <a:prstGeom prst="roundRect">
            <a:avLst>
              <a:gd name="adj" fmla="val 5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1">
                <a:solidFill>
                  <a:srgbClr val="FFFFFF"/>
                </a:solidFill>
                <a:latin typeface="Georgia"/>
              </a:rPr>
              <a:t>Same walls. Different activities. Different worlds.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REIMAGINING SPACE  ·  THE THREE-LEVEL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F2F2F"/>
                </a:solidFill>
                <a:latin typeface="Georgia"/>
              </a:rPr>
              <a:t>Design for three levels, not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D5D55"/>
                </a:solidFill>
                <a:latin typeface="Calibri"/>
              </a:rPr>
              <a:t>Every activity can be analysed at three levels. Each reveals constraints and opportunities the others cannot see.</a:t>
            </a:r>
          </a:p>
        </p:txBody>
      </p:sp>
      <p:sp>
        <p:nvSpPr>
          <p:cNvPr id="6" name="Oval 5"/>
          <p:cNvSpPr/>
          <p:nvPr/>
        </p:nvSpPr>
        <p:spPr>
          <a:xfrm>
            <a:off x="822959" y="2697480"/>
            <a:ext cx="640080" cy="64008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356616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F2F2F"/>
                </a:solidFill>
                <a:latin typeface="Georgia"/>
              </a:rPr>
              <a:t>Logical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5042"/>
                </a:solidFill>
                <a:latin typeface="Calibri"/>
              </a:rPr>
              <a:t>the formal structure of the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Goals, sub-goals, legal transitions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Success conditions that define "done"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Topology of the activity — what connects to what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Abstracts over material and cognition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2697480"/>
            <a:ext cx="640080" cy="640080"/>
          </a:xfrm>
          <a:prstGeom prst="ellipse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246120"/>
            <a:ext cx="356616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F2F2F"/>
                </a:solidFill>
                <a:latin typeface="Georgia"/>
              </a:rPr>
              <a:t>Physical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840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A7BEAE"/>
                </a:solidFill>
                <a:latin typeface="Calibri"/>
              </a:rPr>
              <a:t>material realisation in 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51960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Light, air, acoustics, thermal comfort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Circulation, accessibility, lines of sight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Furniture, equipment, scale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Universal preconditions for any human activity</a:t>
            </a:r>
          </a:p>
        </p:txBody>
      </p:sp>
      <p:sp>
        <p:nvSpPr>
          <p:cNvPr id="16" name="Oval 15"/>
          <p:cNvSpPr/>
          <p:nvPr/>
        </p:nvSpPr>
        <p:spPr>
          <a:xfrm>
            <a:off x="8138159" y="2697480"/>
            <a:ext cx="640080" cy="640080"/>
          </a:xfrm>
          <a:prstGeom prst="ellipse">
            <a:avLst/>
          </a:prstGeom>
          <a:solidFill>
            <a:srgbClr val="8A3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246120"/>
            <a:ext cx="356616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3832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F2F2F"/>
                </a:solidFill>
                <a:latin typeface="Georgia"/>
              </a:rPr>
              <a:t>Cognitive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840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382E"/>
                </a:solidFill>
                <a:latin typeface="Calibri"/>
              </a:rPr>
              <a:t>how people actually represent and solve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251960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Mental models &amp; heuristics; predictive processing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External scaffolds — tools, notations, signage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Attention bubbles; inattentional blindness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Neurodiverse brains, neurodiverse bubbles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6263640"/>
            <a:ext cx="10972800" cy="502920"/>
          </a:xfrm>
          <a:prstGeom prst="roundRect">
            <a:avLst>
              <a:gd name="adj" fmla="val 5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1">
                <a:solidFill>
                  <a:srgbClr val="FFFFFF"/>
                </a:solidFill>
                <a:latin typeface="Georgia"/>
              </a:rPr>
              <a:t>Requirements gathering must reach all three levels.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REIMAGINING SPACE  ·  WHAT CHANGES FOR DESIGNERS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F2F2F"/>
                </a:solidFill>
                <a:latin typeface="Georgia"/>
              </a:rPr>
              <a:t>Small changes reshape big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D5D55"/>
                </a:solidFill>
                <a:latin typeface="Calibri"/>
              </a:rPr>
              <a:t>Once you think in activity spaces, the design brief changes. Cognitive congeniality — how well the room supports the mental side of the task — becomes a first-class requirement.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35661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CASE 1  ·  MULTI-ROLE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F2F"/>
                </a:solidFill>
                <a:latin typeface="Georgia"/>
              </a:rPr>
              <a:t>Florentine restaurant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F2F2F"/>
                </a:solidFill>
                <a:latin typeface="Calibri"/>
              </a:rPr>
              <a:t>Waiters, bussers, customers, and cleaners share one floor yet inhabit four distinct activity spaces. Each sees the part of the room that matters to their task; each walks a different path. Adding a bussing station at mid-floor reroutes every server and shortens end-of-shift by minutes per person.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834640"/>
            <a:ext cx="35661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283464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8346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CASE 2  ·  EXTERNAL SCAFFOLDING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20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F2F"/>
                </a:solidFill>
                <a:latin typeface="Georgia"/>
              </a:rPr>
              <a:t>Mise-en-place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06908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F2F2F"/>
                </a:solidFill>
                <a:latin typeface="Calibri"/>
              </a:rPr>
              <a:t>A chef who pre-positions ingredients does not hold the recipe sequence in their head — the kitchen does. Cognitive load drops, errors drop, recovery from interruption is fast. The physical layout is encoding the activity's logic on behalf of the cook.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834640"/>
            <a:ext cx="35661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79" y="283464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8346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CASE 3  ·  ATTENTION BUBBLE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520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F2F"/>
                </a:solidFill>
                <a:latin typeface="Georgia"/>
              </a:rPr>
              <a:t>Paddington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06908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F2F2F"/>
                </a:solidFill>
                <a:latin typeface="Calibri"/>
              </a:rPr>
              <a:t>Your train is delayed; in a second you leave one activity space (finding-the-gate) and enter another (finding-a-café). The station has not changed, but what you see, notice, and remember has. Design for the transitions, not only the destinations.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989320"/>
            <a:ext cx="10972800" cy="548640"/>
          </a:xfrm>
          <a:prstGeom prst="roundRect">
            <a:avLst>
              <a:gd name="adj" fmla="val 5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9893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  <a:latin typeface="Georgia"/>
              </a:rPr>
              <a:t>Shift the brief from rooms to activities; from floor plans to activity spaces.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8368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D5D55"/>
                </a:solidFill>
                <a:latin typeface="Calibri"/>
              </a:rPr>
              <a:t>Cases from Kirsh (2025); cf. Kirsh (1996, Adaptive Behavior) on adapting the environment vs. the self; Gibson (1979) on affordances; Simons &amp; Chabris (1999) on attention bubbles.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ARTICLE EATER  +  KNOWLEDGE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F2F2F"/>
                </a:solidFill>
                <a:latin typeface="Georgia"/>
              </a:rPr>
              <a:t>A senior researcher at your desk.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D5D55"/>
                </a:solidFill>
                <a:latin typeface="Calibri"/>
              </a:rPr>
              <a:t>Twenty-five years of cognitive-neuroscience-for-architecture literature — read, synthesised, and queryable. Not a chatbot: a research assistant that cites its sources and flags what it does not know.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54864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HOW IT ANSWERS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29184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27355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F2F2F"/>
                </a:solidFill>
                <a:latin typeface="Calibri"/>
              </a:rPr>
              <a:t>Ask: 'Should waiting rooms use biophilic elements?'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739896"/>
            <a:ext cx="365760" cy="365760"/>
          </a:xfrm>
          <a:prstGeom prst="ellipse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72160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F2F2F"/>
                </a:solidFill>
                <a:latin typeface="Calibri"/>
              </a:rPr>
              <a:t>Search the Epistemic Network for support and defeat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87952"/>
            <a:ext cx="365760" cy="365760"/>
          </a:xfrm>
          <a:prstGeom prst="ellipse">
            <a:avLst/>
          </a:prstGeom>
          <a:solidFill>
            <a:srgbClr val="8A3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1696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F2F2F"/>
                </a:solidFill>
                <a:latin typeface="Calibri"/>
              </a:rPr>
              <a:t>Consult the Bayesian mechanism layer for the causal chain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636008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1772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F2F2F"/>
                </a:solidFill>
                <a:latin typeface="Calibri"/>
              </a:rPr>
              <a:t>Surface the Plausible Neural Underpinnings (the why)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084064"/>
            <a:ext cx="365760" cy="365760"/>
          </a:xfrm>
          <a:prstGeom prst="ellipse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065776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F2F2F"/>
                </a:solidFill>
                <a:latin typeface="Calibri"/>
              </a:rPr>
              <a:t>Assemble warrants, competing views, uncertainty bands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532120"/>
            <a:ext cx="365760" cy="365760"/>
          </a:xfrm>
          <a:prstGeom prst="ellipse">
            <a:avLst/>
          </a:prstGeom>
          <a:solidFill>
            <a:srgbClr val="8A3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51383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F2F2F"/>
                </a:solidFill>
                <a:latin typeface="Calibri"/>
              </a:rPr>
              <a:t>Return an evidence-backed answer — every claim traceable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743200"/>
            <a:ext cx="512064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8803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BEAE"/>
                </a:solidFill>
                <a:latin typeface="Calibri"/>
              </a:rPr>
              <a:t>WHAT MAKES IT AN EXPERT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291840"/>
            <a:ext cx="4663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F2F2F"/>
                </a:solidFill>
                <a:latin typeface="Calibri"/>
              </a:rPr>
              <a:t>· Cites the primary literature behind every claim, with DOI and citation count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F2F2F"/>
                </a:solidFill>
                <a:latin typeface="Calibri"/>
              </a:rPr>
              <a:t>· Distinguishes settled science from active disagreement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F2F2F"/>
                </a:solidFill>
                <a:latin typeface="Calibri"/>
              </a:rPr>
              <a:t>· Reasons across Kirsh's three levels — logical, physical, cognitive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F2F2F"/>
                </a:solidFill>
                <a:latin typeface="Calibri"/>
              </a:rPr>
              <a:t>· Flags the epistemic gap: where the evidence runs out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F2F2F"/>
                </a:solidFill>
                <a:latin typeface="Calibri"/>
              </a:rPr>
              <a:t>· Preserves neurodiversity — not one-size-fits-all recommendations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F2F2F"/>
                </a:solidFill>
                <a:latin typeface="Calibri"/>
              </a:rPr>
              <a:t>· Updates continuously as new papers enter the corpus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6263640"/>
            <a:ext cx="10972800" cy="457200"/>
          </a:xfrm>
          <a:prstGeom prst="roundRect">
            <a:avLst>
              <a:gd name="adj" fmla="val 5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2636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1">
                <a:solidFill>
                  <a:srgbClr val="FFFFFF"/>
                </a:solidFill>
                <a:latin typeface="Georgia"/>
              </a:rPr>
              <a:t>Like consulting a colleague who has read every relevant paper — because it has.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