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COG NEURO FOR ARCHITECTURE  ·  UCSD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943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Georgia"/>
              </a:rPr>
              <a:t>Reimagining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5943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E7D9CE"/>
                </a:solidFill>
                <a:latin typeface="Georgia"/>
              </a:rPr>
              <a:t>How activity space explains human behaviour in buildings.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David Kirsh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E7D9CE"/>
                </a:solidFill>
                <a:latin typeface="Calibri"/>
              </a:rPr>
              <a:t>Cognitive Science  ·  UC San Diego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85042"/>
                </a:solidFill>
                <a:latin typeface="Calibri"/>
              </a:rPr>
              <a:t>Design Lab Singapore</a:t>
            </a:r>
          </a:p>
        </p:txBody>
      </p:sp>
      <p:pic>
        <p:nvPicPr>
          <p:cNvPr id="9" name="Picture 8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8760"/>
            <a:ext cx="5120640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54864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E7D9CE"/>
                </a:solidFill>
                <a:latin typeface="Calibri"/>
              </a:rPr>
              <a:t>One of four topologically identical chess boards (Kirsh 2025, Fig 1d).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KIRSH 2025  ·  FIGURE 1  ·  FORMAL ≠ PHYSICAL ≠ PSYCHOLOGICAL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F2F2F"/>
                </a:solidFill>
                <a:latin typeface="Georgia"/>
              </a:rPr>
              <a:t>Four activity spaces to play chess.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D5D55"/>
                </a:solidFill>
                <a:latin typeface="Calibri"/>
              </a:rPr>
              <a:t>Same state space; four physical realisations; four psychological experiences. Any game you can play on the flat board you can play on the sphere — but not equally well.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26974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3017520"/>
            <a:ext cx="457200" cy="274320"/>
          </a:xfrm>
          <a:prstGeom prst="roundRect">
            <a:avLst>
              <a:gd name="adj" fmla="val 30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1a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429000"/>
            <a:ext cx="169164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59" y="51206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F2F2F"/>
                </a:solidFill>
                <a:latin typeface="Georgia"/>
              </a:rPr>
              <a:t>Standard 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4864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D5D55"/>
                </a:solidFill>
                <a:latin typeface="Calibri"/>
              </a:rPr>
              <a:t>a 2-D grid of 64 cells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880360"/>
            <a:ext cx="26974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79" y="3017520"/>
            <a:ext cx="457200" cy="274320"/>
          </a:xfrm>
          <a:prstGeom prst="roundRect">
            <a:avLst>
              <a:gd name="adj" fmla="val 30000"/>
            </a:avLst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3017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1b</a:t>
            </a:r>
          </a:p>
        </p:txBody>
      </p:sp>
      <p:pic>
        <p:nvPicPr>
          <p:cNvPr id="15" name="Picture 1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3429000"/>
            <a:ext cx="1691640" cy="1554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57600" y="51206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F2F2F"/>
                </a:solidFill>
                <a:latin typeface="Georgia"/>
              </a:rPr>
              <a:t>Abstract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4864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D5D55"/>
                </a:solidFill>
                <a:latin typeface="Calibri"/>
              </a:rPr>
              <a:t>64 nodes, one-step links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880360"/>
            <a:ext cx="26974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3017520"/>
            <a:ext cx="457200" cy="274320"/>
          </a:xfrm>
          <a:prstGeom prst="roundRect">
            <a:avLst>
              <a:gd name="adj" fmla="val 30000"/>
            </a:avLst>
          </a:prstGeom>
          <a:solidFill>
            <a:srgbClr val="8A3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017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1c</a:t>
            </a:r>
          </a:p>
        </p:txBody>
      </p:sp>
      <p:pic>
        <p:nvPicPr>
          <p:cNvPr id="21" name="Picture 20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429000"/>
            <a:ext cx="1691640" cy="1554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92240" y="51206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F2F2F"/>
                </a:solidFill>
                <a:latin typeface="Georgia"/>
              </a:rPr>
              <a:t>Spherical chess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4864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D5D55"/>
                </a:solidFill>
                <a:latin typeface="Calibri"/>
              </a:rPr>
              <a:t>grid warped onto a sphere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880360"/>
            <a:ext cx="26974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81160" y="3017520"/>
            <a:ext cx="457200" cy="274320"/>
          </a:xfrm>
          <a:prstGeom prst="roundRect">
            <a:avLst>
              <a:gd name="adj" fmla="val 30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3017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1d</a:t>
            </a:r>
          </a:p>
        </p:txBody>
      </p:sp>
      <p:pic>
        <p:nvPicPr>
          <p:cNvPr id="27" name="Picture 26" descr="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0" y="3429000"/>
            <a:ext cx="1691640" cy="1554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326880" y="51206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F2F2F"/>
                </a:solidFill>
                <a:latin typeface="Georgia"/>
              </a:rPr>
              <a:t>Stacked boxes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54864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D5D55"/>
                </a:solidFill>
                <a:latin typeface="Calibri"/>
              </a:rPr>
              <a:t>rings mapped onto 3-D surfaces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6263640"/>
            <a:ext cx="10972800" cy="502920"/>
          </a:xfrm>
          <a:prstGeom prst="roundRect">
            <a:avLst>
              <a:gd name="adj" fmla="val 5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26364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1">
                <a:solidFill>
                  <a:srgbClr val="FFFFFF"/>
                </a:solidFill>
                <a:latin typeface="Georgia"/>
              </a:rPr>
              <a:t>Same state space. Different physical space. Different psychological 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THE CENTRAL QUESTION  ·  THREE LEVELS OF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F2F2F"/>
                </a:solidFill>
                <a:latin typeface="Georgia"/>
              </a:rPr>
              <a:t>How space shapes task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D5D55"/>
                </a:solidFill>
                <a:latin typeface="Calibri"/>
              </a:rPr>
              <a:t>Every activity lives at three levels. Our actions are a function of how the first two shape the third.</a:t>
            </a:r>
          </a:p>
        </p:txBody>
      </p:sp>
      <p:sp>
        <p:nvSpPr>
          <p:cNvPr id="6" name="Oval 5"/>
          <p:cNvSpPr/>
          <p:nvPr/>
        </p:nvSpPr>
        <p:spPr>
          <a:xfrm>
            <a:off x="822959" y="2514600"/>
            <a:ext cx="640080" cy="64008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39"/>
            <a:ext cx="356616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F2F2F"/>
                </a:solidFill>
                <a:latin typeface="Georgia"/>
              </a:rPr>
              <a:t>Logical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5042"/>
                </a:solidFill>
                <a:latin typeface="Calibri"/>
              </a:rPr>
              <a:t>state space; goals and legal transitions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What is the abstract structure of the task?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Which states are reachable from which?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What counts as success?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Invariant under physical realisation.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4480560" y="2514600"/>
            <a:ext cx="640080" cy="640080"/>
          </a:xfrm>
          <a:prstGeom prst="ellipse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063239"/>
            <a:ext cx="356616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F2F2F"/>
                </a:solidFill>
                <a:latin typeface="Georgia"/>
              </a:rPr>
              <a:t>Physical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03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A7BEAE"/>
                </a:solidFill>
                <a:latin typeface="Calibri"/>
              </a:rPr>
              <a:t>layout, materials, affordances,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14800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Where in the room do actions happen?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How accessible, visible, reachable is each station?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Light, acoustics, thermal, lines of sight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What affordances does the material reveal?</a:t>
            </a:r>
          </a:p>
        </p:txBody>
      </p:sp>
      <p:sp>
        <p:nvSpPr>
          <p:cNvPr id="16" name="Oval 15"/>
          <p:cNvSpPr/>
          <p:nvPr/>
        </p:nvSpPr>
        <p:spPr>
          <a:xfrm>
            <a:off x="8138159" y="2514600"/>
            <a:ext cx="640080" cy="640080"/>
          </a:xfrm>
          <a:prstGeom prst="ellipse">
            <a:avLst/>
          </a:prstGeom>
          <a:solidFill>
            <a:srgbClr val="8A3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063239"/>
            <a:ext cx="356616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200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F2F2F"/>
                </a:solidFill>
                <a:latin typeface="Georgia"/>
              </a:rPr>
              <a:t>Psychological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703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382E"/>
                </a:solidFill>
                <a:latin typeface="Calibri"/>
              </a:rPr>
              <a:t>how we decide what to do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114800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What mental model does the agent bring?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What external cues guide the next move?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Attention bubble; working memory; fatigue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2F2F2F"/>
                </a:solidFill>
                <a:latin typeface="Calibri"/>
              </a:rPr>
              <a:t>· Different brains, different strategies.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6263640"/>
            <a:ext cx="10972800" cy="502920"/>
          </a:xfrm>
          <a:prstGeom prst="roundRect">
            <a:avLst>
              <a:gd name="adj" fmla="val 5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26364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1">
                <a:solidFill>
                  <a:srgbClr val="FFFFFF"/>
                </a:solidFill>
                <a:latin typeface="Georgia"/>
              </a:rPr>
              <a:t>Our actions are a function of how Logical + Physical shape Psychological.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RELEVANCE  ·  WHY THIS MATTERS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F2F2F"/>
                </a:solidFill>
                <a:latin typeface="Georgia"/>
              </a:rPr>
              <a:t>Buildings are becoming adaptive.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D5D55"/>
                </a:solidFill>
                <a:latin typeface="Calibri"/>
              </a:rPr>
              <a:t>We do not yet have a principled way to design rooms that host many tasks at once — or that rearrange themselves to host the next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56692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2971800"/>
            <a:ext cx="5486400" cy="2697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6692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D5D55"/>
                </a:solidFill>
                <a:latin typeface="Calibri"/>
              </a:rPr>
              <a:t>Hospital wayfinding: a single physical corridor, many activity spaces (patients, staff, visitors, orderlies).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834640"/>
            <a:ext cx="50292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0" y="2990088"/>
            <a:ext cx="457200" cy="4572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9443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F2F2F"/>
                </a:solidFill>
                <a:latin typeface="Georgia"/>
              </a:rPr>
              <a:t>Adaptive rooms need a design theory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218688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D5D55"/>
                </a:solidFill>
                <a:latin typeface="Calibri"/>
              </a:rPr>
              <a:t>Furniture and lighting that move on their own require rules about when to move — rules that speak all three levels.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657600"/>
            <a:ext cx="50292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66560" y="3813048"/>
            <a:ext cx="457200" cy="457200"/>
          </a:xfrm>
          <a:prstGeom prst="ellipse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7673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F2F2F"/>
                </a:solidFill>
                <a:latin typeface="Georgia"/>
              </a:rPr>
              <a:t>One space, many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041648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D5D55"/>
                </a:solidFill>
                <a:latin typeface="Calibri"/>
              </a:rPr>
              <a:t>A lobby hosts arrivals, queues, conversations, and cleaning — four activity spaces sharing one floor.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480560"/>
            <a:ext cx="50292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6560" y="4636008"/>
            <a:ext cx="457200" cy="457200"/>
          </a:xfrm>
          <a:prstGeom prst="ellipse">
            <a:avLst/>
          </a:prstGeom>
          <a:solidFill>
            <a:srgbClr val="8A3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5902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F2F2F"/>
                </a:solidFill>
                <a:latin typeface="Georgia"/>
              </a:rPr>
              <a:t>Things get confusing easily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864608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D5D55"/>
                </a:solidFill>
                <a:latin typeface="Calibri"/>
              </a:rPr>
              <a:t>Without a map of cognitive load and attention bubbles, multi-task space devolves into visual noise.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5303520"/>
            <a:ext cx="50292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66560" y="5458968"/>
            <a:ext cx="457200" cy="4572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54132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F2F2F"/>
                </a:solidFill>
                <a:latin typeface="Georgia"/>
              </a:rPr>
              <a:t>A job for the three levels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687568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D5D55"/>
                </a:solidFill>
                <a:latin typeface="Calibri"/>
              </a:rPr>
              <a:t>Architects need the logical + psychological skills to see what their geometry will actually 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6263640"/>
            <a:ext cx="10972800" cy="502920"/>
          </a:xfrm>
          <a:prstGeom prst="roundRect">
            <a:avLst>
              <a:gd name="adj" fmla="val 5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26364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1">
                <a:solidFill>
                  <a:srgbClr val="FFFFFF"/>
                </a:solidFill>
                <a:latin typeface="Georgia"/>
              </a:rPr>
              <a:t>Architecture becomes cognitive design when rooms must serve many activity spaces at once.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FROM THEORY TO TOOL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011680"/>
            <a:ext cx="1188720" cy="118872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6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965960"/>
            <a:ext cx="9144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Georgia"/>
              </a:rPr>
              <a:t>A research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9260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1">
                <a:solidFill>
                  <a:srgbClr val="E7D9CE"/>
                </a:solidFill>
                <a:latin typeface="Georgia"/>
              </a:rPr>
              <a:t>that has read everything in the field.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4023360"/>
            <a:ext cx="731520" cy="9144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4251960"/>
            <a:ext cx="9144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E7D9CE"/>
                </a:solidFill>
                <a:latin typeface="Calibri"/>
              </a:rPr>
              <a:t>Activity-space theory tells an architect what to look for. The next slide shows a tool that brings the backing literature, the causal mechanisms, and the neural evidence to the same desk — and cites every claim it makes.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ARTICLE EATER  +  KNOWLEDGE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F2F2F"/>
                </a:solidFill>
                <a:latin typeface="Georgia"/>
              </a:rPr>
              <a:t>A senior researcher at your desk.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D5D55"/>
                </a:solidFill>
                <a:latin typeface="Calibri"/>
              </a:rPr>
              <a:t>Twenty-five years of cognitive-neuroscience-for-architecture literature — read, synthesised, and queryable. Not a chatbot: a senior research colleague that cites its sources, flags what it does not know, and helps you understand the technical literature.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71800"/>
            <a:ext cx="548640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GREAT QUESTIONS IT ANSWERS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52044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4747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F2F2F"/>
                </a:solidFill>
                <a:latin typeface="Calibri"/>
              </a:rPr>
              <a:t>Should hospital waiting rooms include biophilic elements — and which?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941064"/>
            <a:ext cx="365760" cy="365760"/>
          </a:xfrm>
          <a:prstGeom prst="ellipse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9534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F2F2F"/>
                </a:solidFill>
                <a:latin typeface="Calibri"/>
              </a:rPr>
              <a:t>How does daylight at workstations affect afternoon attention?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361688"/>
            <a:ext cx="365760" cy="365760"/>
          </a:xfrm>
          <a:prstGeom prst="ellipse">
            <a:avLst/>
          </a:prstGeom>
          <a:solidFill>
            <a:srgbClr val="8A3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31596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F2F2F"/>
                </a:solidFill>
                <a:latin typeface="Calibri"/>
              </a:rPr>
              <a:t>What ceiling height supports creative versus focused work?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782312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736592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F2F2F"/>
                </a:solidFill>
                <a:latin typeface="Calibri"/>
              </a:rPr>
              <a:t>How do open-plan acoustics alter cognitive load over a workday?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202936"/>
            <a:ext cx="365760" cy="365760"/>
          </a:xfrm>
          <a:prstGeom prst="ellipse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15721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F2F2F"/>
                </a:solidFill>
                <a:latin typeface="Calibri"/>
              </a:rPr>
              <a:t>Which wayfinding cues reduce stress for elderly hospital visitors?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623560"/>
            <a:ext cx="365760" cy="365760"/>
          </a:xfrm>
          <a:prstGeom prst="ellipse">
            <a:avLst/>
          </a:prstGeom>
          <a:solidFill>
            <a:srgbClr val="8A3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5778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F2F2F"/>
                </a:solidFill>
                <a:latin typeface="Calibri"/>
              </a:rPr>
              <a:t>What classroom layouts support attention in neurodiverse students?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971800"/>
            <a:ext cx="512064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1089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BEAE"/>
                </a:solidFill>
                <a:latin typeface="Calibri"/>
              </a:rPr>
              <a:t>WHAT MAKES IT AN EXPERT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520440"/>
            <a:ext cx="4663440" cy="2606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F2F2F"/>
                </a:solidFill>
                <a:latin typeface="Calibri"/>
              </a:rPr>
              <a:t>· Cites the primary literature behind every claim, with DOI and citation count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F2F2F"/>
                </a:solidFill>
                <a:latin typeface="Calibri"/>
              </a:rPr>
              <a:t>· Distinguishes settled science from active disagreement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F2F2F"/>
                </a:solidFill>
                <a:latin typeface="Calibri"/>
              </a:rPr>
              <a:t>· Reasons across Kirsh's three levels — logical, physical, cognitive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F2F2F"/>
                </a:solidFill>
                <a:latin typeface="Calibri"/>
              </a:rPr>
              <a:t>· Flags the epistemic gap: where the evidence runs out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F2F2F"/>
                </a:solidFill>
                <a:latin typeface="Calibri"/>
              </a:rPr>
              <a:t>· Preserves neurodiversity — not one-size-fits-all recommendations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F2F2F"/>
                </a:solidFill>
                <a:latin typeface="Calibri"/>
              </a:rPr>
              <a:t>· Updates continuously as new papers enter the corpus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6355080"/>
            <a:ext cx="10972800" cy="457200"/>
          </a:xfrm>
          <a:prstGeom prst="roundRect">
            <a:avLst>
              <a:gd name="adj" fmla="val 5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1">
                <a:solidFill>
                  <a:srgbClr val="FFFFFF"/>
                </a:solidFill>
                <a:latin typeface="Georgia"/>
              </a:rPr>
              <a:t>Like consulting a colleague who has read every relevant paper — because it has.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